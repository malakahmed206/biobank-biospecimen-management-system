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53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B4F5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73A3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&amp; Biospecimen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41732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013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2585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Problem &amp; Scope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770"/>
                </a:solidFill>
              </a:rPr>
              <a:t>Why a biobank needs a database, and what it must manage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611880" cy="141732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8013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22585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Conceptual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770"/>
                </a:solidFill>
              </a:rPr>
              <a:t>Entities, attributes, and the ER diagram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611880" cy="141732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8013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0" y="22585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Relational Schema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2606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770"/>
                </a:solidFill>
              </a:rPr>
              <a:t>Keys, constraints, and normalization to 3NF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611880" cy="141732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472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39044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Implementation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770"/>
                </a:solidFill>
              </a:rPr>
              <a:t>DDL, test data, queries, views &amp; triggers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337560"/>
            <a:ext cx="3611880" cy="141732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4472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39044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Live Demo &amp; Testing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251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770"/>
                </a:solidFill>
              </a:rPr>
              <a:t>Business rules enforced in action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337560"/>
            <a:ext cx="3611880" cy="141732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34472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12480" y="39044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Wrap-up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0" y="4251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770"/>
                </a:solidFill>
              </a:rPr>
              <a:t>Limitations, and next steps (bonus UI)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&amp; Biospecimen Management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Biobank Needs a Database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A biobank collects, stores, and distributes human biospecimens for research. Without a structured system, labs lose track of: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Whether a donor's consent is still active</a:t>
            </a:r>
            <a:endParaRPr lang="en-US" sz="135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Where every physical aliquot is stored, and at what temperature</a:t>
            </a:r>
            <a:endParaRPr lang="en-US" sz="135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How much of a sample has already been used for testing</a:t>
            </a:r>
            <a:endParaRPr lang="en-US" sz="135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Which researcher requested which test, and its status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303520" cy="4434840"/>
          </a:xfrm>
          <a:prstGeom prst="rect">
            <a:avLst/>
          </a:prstGeom>
          <a:solidFill>
            <a:srgbClr val="1B4F52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</a:rPr>
              <a:t>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29400" y="219456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</a:rPr>
              <a:t>Donor enrollment &amp; informed consent</a:t>
            </a:r>
            <a:endParaRPr lang="en-US" sz="14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</a:rPr>
              <a:t>Sample collection events</a:t>
            </a:r>
            <a:endParaRPr lang="en-US" sz="14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</a:rPr>
              <a:t>Aliquoting &amp; cold-chain storage tracking</a:t>
            </a:r>
            <a:endParaRPr lang="en-US" sz="14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</a:rPr>
              <a:t>Researcher test requests</a:t>
            </a:r>
            <a:endParaRPr lang="en-US" sz="14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</a:rPr>
              <a:t>Sample usage against active consent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52120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7D3D3"/>
                </a:solidFill>
              </a:rPr>
              <a:t>Out of scope: billing, shipping logistics, and patient clinical records.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&amp; Biospecimen Management 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Rules the Database Must Enforce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" cy="17373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691640"/>
            <a:ext cx="5138928" cy="173736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476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D"/>
                </a:solidFill>
              </a:rPr>
              <a:t>A sample cannot be used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70"/>
                </a:solidFill>
              </a:rPr>
              <a:t>if the donor's consent has been withdrawn.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73152" cy="17373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199632" y="1691640"/>
            <a:ext cx="5138928" cy="173736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476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D"/>
                </a:solidFill>
              </a:rPr>
              <a:t>Volumes must stay positive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560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70"/>
                </a:solidFill>
              </a:rPr>
              <a:t>no zero or negative aliquot / sample volumes.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73152" cy="17373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3749040"/>
            <a:ext cx="5138928" cy="173736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050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D"/>
                </a:solidFill>
              </a:rPr>
              <a:t>Consent must expire after signing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70"/>
                </a:solidFill>
              </a:rPr>
              <a:t>expiry_date always postdates date_signed.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73152" cy="17373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9632" y="3749040"/>
            <a:ext cx="5138928" cy="173736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40050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D"/>
                </a:solidFill>
              </a:rPr>
              <a:t>Aliquot status updates itself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4617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70"/>
                </a:solidFill>
              </a:rPr>
              <a:t>flips to InUse / Depleted as usage accumulates.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&amp; Biospecimen Management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CONCEPTUAL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Core Entities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48256" cy="1051560"/>
          </a:xfrm>
          <a:prstGeom prst="rect">
            <a:avLst/>
          </a:prstGeom>
          <a:solidFill>
            <a:srgbClr val="1B4F5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8424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Donor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61488" y="1691640"/>
            <a:ext cx="2048256" cy="1051560"/>
          </a:xfrm>
          <a:prstGeom prst="rect">
            <a:avLst/>
          </a:prstGeom>
          <a:solidFill>
            <a:srgbClr val="1B4F52"/>
          </a:solidFill>
          <a:ln/>
        </p:spPr>
      </p:sp>
      <p:sp>
        <p:nvSpPr>
          <p:cNvPr id="7" name="Text 5"/>
          <p:cNvSpPr/>
          <p:nvPr/>
        </p:nvSpPr>
        <p:spPr>
          <a:xfrm>
            <a:off x="2852928" y="198424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Researcher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74336" y="1691640"/>
            <a:ext cx="2048256" cy="1051560"/>
          </a:xfrm>
          <a:prstGeom prst="rect">
            <a:avLst/>
          </a:prstGeom>
          <a:solidFill>
            <a:srgbClr val="1B4F52"/>
          </a:solidFill>
          <a:ln/>
        </p:spPr>
      </p:sp>
      <p:sp>
        <p:nvSpPr>
          <p:cNvPr id="9" name="Text 7"/>
          <p:cNvSpPr/>
          <p:nvPr/>
        </p:nvSpPr>
        <p:spPr>
          <a:xfrm>
            <a:off x="5065776" y="198424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ConsentForm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87184" y="1691640"/>
            <a:ext cx="2048256" cy="1051560"/>
          </a:xfrm>
          <a:prstGeom prst="rect">
            <a:avLst/>
          </a:prstGeom>
          <a:solidFill>
            <a:srgbClr val="1B4F52"/>
          </a:solidFill>
          <a:ln/>
        </p:spPr>
      </p:sp>
      <p:sp>
        <p:nvSpPr>
          <p:cNvPr id="11" name="Text 9"/>
          <p:cNvSpPr/>
          <p:nvPr/>
        </p:nvSpPr>
        <p:spPr>
          <a:xfrm>
            <a:off x="7278624" y="198424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CollectionEvent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400032" y="1691640"/>
            <a:ext cx="2048256" cy="1051560"/>
          </a:xfrm>
          <a:prstGeom prst="rect">
            <a:avLst/>
          </a:prstGeom>
          <a:solidFill>
            <a:srgbClr val="1B4F52"/>
          </a:solidFill>
          <a:ln/>
        </p:spPr>
      </p:sp>
      <p:sp>
        <p:nvSpPr>
          <p:cNvPr id="13" name="Text 11"/>
          <p:cNvSpPr/>
          <p:nvPr/>
        </p:nvSpPr>
        <p:spPr>
          <a:xfrm>
            <a:off x="9491472" y="198424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SampleType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2048256" cy="1051560"/>
          </a:xfrm>
          <a:prstGeom prst="rect">
            <a:avLst/>
          </a:prstGeom>
          <a:solidFill>
            <a:srgbClr val="1B4F5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Sample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61488" y="2926080"/>
            <a:ext cx="2048256" cy="1051560"/>
          </a:xfrm>
          <a:prstGeom prst="rect">
            <a:avLst/>
          </a:prstGeom>
          <a:solidFill>
            <a:srgbClr val="1B4F52"/>
          </a:solidFill>
          <a:ln/>
        </p:spPr>
      </p:sp>
      <p:sp>
        <p:nvSpPr>
          <p:cNvPr id="17" name="Text 15"/>
          <p:cNvSpPr/>
          <p:nvPr/>
        </p:nvSpPr>
        <p:spPr>
          <a:xfrm>
            <a:off x="2852928" y="321868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StorageLocation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74336" y="2926080"/>
            <a:ext cx="2048256" cy="1051560"/>
          </a:xfrm>
          <a:prstGeom prst="rect">
            <a:avLst/>
          </a:prstGeom>
          <a:solidFill>
            <a:srgbClr val="1B4F52"/>
          </a:solidFill>
          <a:ln/>
        </p:spPr>
      </p:sp>
      <p:sp>
        <p:nvSpPr>
          <p:cNvPr id="19" name="Text 17"/>
          <p:cNvSpPr/>
          <p:nvPr/>
        </p:nvSpPr>
        <p:spPr>
          <a:xfrm>
            <a:off x="5065776" y="321868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Aliquot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87184" y="2926080"/>
            <a:ext cx="2048256" cy="1051560"/>
          </a:xfrm>
          <a:prstGeom prst="rect">
            <a:avLst/>
          </a:prstGeom>
          <a:solidFill>
            <a:srgbClr val="1B4F52"/>
          </a:solidFill>
          <a:ln/>
        </p:spPr>
      </p:sp>
      <p:sp>
        <p:nvSpPr>
          <p:cNvPr id="21" name="Text 19"/>
          <p:cNvSpPr/>
          <p:nvPr/>
        </p:nvSpPr>
        <p:spPr>
          <a:xfrm>
            <a:off x="7278624" y="321868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TestRequest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00032" y="2926080"/>
            <a:ext cx="2048256" cy="105156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3" name="Text 21"/>
          <p:cNvSpPr/>
          <p:nvPr/>
        </p:nvSpPr>
        <p:spPr>
          <a:xfrm>
            <a:off x="9491472" y="321868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SampleUsage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B6770"/>
                </a:solidFill>
              </a:rPr>
              <a:t>Green = associative table resolving the Aliquot ↔ TestRequest many-to-many relationship (records exactly which aliquot volume was consumed by which test request).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&amp; Biospecimen Management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</a:rPr>
              <a:t>ER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Entities, Relationships &amp; Attributes (Chen Notation)</a:t>
            </a:r>
            <a:endParaRPr lang="en-US" sz="2200" dirty="0"/>
          </a:p>
        </p:txBody>
      </p:sp>
      <p:pic>
        <p:nvPicPr>
          <p:cNvPr id="4" name="Image 0" descr="diagrams/ERD_che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1124712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B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LOGICAL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ER Model to Relational Schema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98480" cy="457200"/>
          </a:xfrm>
          <a:prstGeom prst="rect">
            <a:avLst/>
          </a:prstGeom>
          <a:solidFill>
            <a:srgbClr val="12303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</a:rPr>
              <a:t>TABLE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764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</a:rPr>
              <a:t>PRIMARY KEY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0" y="1764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</a:rPr>
              <a:t>FOREIGN KEYS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0698480" cy="566928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67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Sample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2267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4F"/>
                </a:solidFill>
              </a:rPr>
              <a:t>sample_id (PK)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40880" y="2267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</a:rPr>
              <a:t>donor_id, sample_type_id, event_id (FK)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10698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Aliquot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4F"/>
                </a:solidFill>
              </a:rPr>
              <a:t>aliquot_id (PK)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</a:rPr>
              <a:t>sample_id, location_id (FK)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10698480" cy="566928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01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TestRequest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23360" y="3401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4F"/>
                </a:solidFill>
              </a:rPr>
              <a:t>request_id (PK)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40880" y="34015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</a:rPr>
              <a:t>sample_id, researcher_id (FK)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10698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684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SampleUsage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23360" y="39684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4F"/>
                </a:solidFill>
              </a:rPr>
              <a:t>usage_id (PK)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40880" y="39684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</a:rPr>
              <a:t>aliquot_id, request_id (FK) — resolves M:N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64515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B6770"/>
                </a:solidFill>
              </a:rPr>
              <a:t>Every 1:N ER relationship becomes a foreign key on the “many” side. The Aliquot ↔ TestRequest M:N relationship becomes its own table (SampleUsage) carrying both foreign keys plus its own attributes.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&amp; Biospecimen Management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Schema Is in 3NF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420624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1NF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D"/>
                </a:solidFill>
              </a:rPr>
              <a:t>Atomic values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770"/>
                </a:solidFill>
              </a:rPr>
              <a:t>No repeating groups — e.g. a Sample never stores a list of aliquot IDs in one field; Aliquot is its own table.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33672" y="1737360"/>
            <a:ext cx="3429000" cy="420624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9" name="Text 7"/>
          <p:cNvSpPr/>
          <p:nvPr/>
        </p:nvSpPr>
        <p:spPr>
          <a:xfrm>
            <a:off x="4462272" y="20116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2NF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462272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D"/>
                </a:solidFill>
              </a:rPr>
              <a:t>No partial dependency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62272" y="33375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770"/>
                </a:solidFill>
              </a:rPr>
              <a:t>Every table uses a single-column surrogate key, so no attribute can depend on “part” of the key.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18704" y="1737360"/>
            <a:ext cx="3429000" cy="4206240"/>
          </a:xfrm>
          <a:prstGeom prst="rect">
            <a:avLst/>
          </a:prstGeom>
          <a:solidFill>
            <a:srgbClr val="1B4F52"/>
          </a:solidFill>
          <a:ln/>
        </p:spPr>
      </p:sp>
      <p:sp>
        <p:nvSpPr>
          <p:cNvPr id="13" name="Text 11"/>
          <p:cNvSpPr/>
          <p:nvPr/>
        </p:nvSpPr>
        <p:spPr>
          <a:xfrm>
            <a:off x="8147304" y="20116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3NF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147304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 transitive dependency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47304" y="33375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0E0"/>
                </a:solidFill>
              </a:rPr>
              <a:t>Storage requirements depend only on SampleType, not on Sample — so SampleType is factored into its own lookup table.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&amp; Biospecimen Management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create_tables.sql — Constraints 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solidFill>
            <a:srgbClr val="0C22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ConsentForm (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consent_id   SERIAL PRIMARY KEY,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donor_id     INT NOT NULL REFERENCES Donor(donor_id) ON DELETE CASCADE,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consent_type VARCHAR(50) NOT NULL CHECK (consent_type IN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('Research','Commercial','Broad','Restricted')),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date_signed  DATE NOT NULL,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expiry_date  DATE,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      VARCHAR(20) NOT NULL DEFAULT 'Active'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CHECK (status IN ('Active','Withdrawn','Expired')),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CONSTRAINT chk_consent_dates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 (expiry_date IS NULL OR expiry_date &gt; date_signed)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D3D3"/>
                </a:solidFill>
              </a:rPr>
              <a:t>Referential integrity (FK + CASCADE), domain constraints (CHECK), and cross-column rules all live in the schema — not in application code.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&amp; Biospecimen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QUERIES.SQL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73736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D"/>
                </a:solidFill>
              </a:rPr>
              <a:t>Join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70"/>
                </a:solidFill>
              </a:rPr>
              <a:t>List every aliquot with its sample, donor, and storage location in one readable row.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12080" cy="173736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9476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D"/>
                </a:solidFill>
              </a:rPr>
              <a:t>Aggregation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70"/>
                </a:solidFill>
              </a:rPr>
              <a:t>Count samples per SampleType; find researchers with more than one request (HAVING).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212080" cy="173736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050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D"/>
                </a:solidFill>
              </a:rPr>
              <a:t>Correlated Subquery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70"/>
                </a:solidFill>
              </a:rPr>
              <a:t>Aliquots whose recorded usage already exceeds 50% of their original volume.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212080" cy="173736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02336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0050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D"/>
                </a:solidFill>
              </a:rPr>
              <a:t>DML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6177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70"/>
                </a:solidFill>
              </a:rPr>
              <a:t>INSERT a new donor + consent, UPDATE consent status, DELETE unused rejected requests.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&amp; Biospecimen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VIEWS.SQL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Views for Everyday 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931920"/>
          </a:xfrm>
          <a:prstGeom prst="rect">
            <a:avLst/>
          </a:prstGeom>
          <a:solidFill>
            <a:srgbClr val="1B4F5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860B"/>
                </a:solidFill>
              </a:rPr>
              <a:t>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450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vw_sample_inventory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D6E0E0"/>
                </a:solidFill>
              </a:rPr>
              <a:t>One row per sample with donor, type, and live aliquot count + remaining volume — lab staff check stock without writing joins.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212080" cy="3931920"/>
          </a:xfrm>
          <a:prstGeom prst="rect">
            <a:avLst/>
          </a:prstGeom>
          <a:solidFill>
            <a:srgbClr val="12303D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860B"/>
                </a:solidFill>
              </a:rPr>
              <a:t>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2450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vw_researcher_activity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32004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D6E0E0"/>
                </a:solidFill>
              </a:rPr>
              <a:t>Per-researcher request counts, completion rate, and total volume of material consumed — used for management reporting.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&amp; Biospecimen Management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TRIGGERS_PROCEDURES.SQL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Database Detects Usage Automatically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</a:rPr>
              <a:t>Nobody updates an aliquot's status by hand. Every INSERT into SampleUsage fires two triggers: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3D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208483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trg_check_consent_before_usage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4688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0"/>
                </a:solidFill>
              </a:rPr>
              <a:t>BEFORE INSERT — blocks the insert if the donor's consent is not Active. Raises an exception, transaction rolls back.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3D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322783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trg_update_aliquot_status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6118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0"/>
                </a:solidFill>
              </a:rPr>
              <a:t>AFTER INSERT — sums all usage against the aliquot; flips its status to InUse or, once fully consumed, Depleted.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0881360" cy="1417320"/>
          </a:xfrm>
          <a:prstGeom prst="rect">
            <a:avLst/>
          </a:prstGeom>
          <a:solidFill>
            <a:srgbClr val="1B4F5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17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Stored function — sp_record_sample_usage(aliquot_id, request_id, quantity, purpose)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010912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6E0E0"/>
                </a:solidFill>
              </a:rPr>
              <a:t>Wraps the INSERT and returns the aliquot's remaining volume in one call — a single, safe entry point for the lab workflow instead of a raw multi-step INSERT.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&amp; Biospecimen Management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Proving the Rules Actually Hold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457200"/>
          </a:xfrm>
          <a:prstGeom prst="rect">
            <a:avLst/>
          </a:prstGeom>
          <a:solidFill>
            <a:srgbClr val="12303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</a:rPr>
              <a:t>TEST CASE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0" y="1810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</a:rPr>
              <a:t>RESULT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0881360" cy="77724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8600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A1A"/>
                </a:solidFill>
              </a:rPr>
              <a:t>Withdraw a donor's consent, then INSERT a SampleUsage for their aliquot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0" y="22860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7D4F"/>
                </a:solidFill>
              </a:rPr>
              <a:t>✓ Trigger raises an exception — insert rejected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8813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6324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A1A"/>
                </a:solidFill>
              </a:rPr>
              <a:t>INSERT an Aliquot with volume_ml = -5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0" y="30632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7D4F"/>
                </a:solidFill>
              </a:rPr>
              <a:t>✓ CHECK constraint violation — insert rejected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0881360" cy="777240"/>
          </a:xfrm>
          <a:prstGeom prst="rect">
            <a:avLst/>
          </a:prstGeom>
          <a:solidFill>
            <a:srgbClr val="EFF2F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4048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A1A"/>
                </a:solidFill>
              </a:rPr>
              <a:t>Fully consume an aliquot via two SampleUsage rows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0" y="3840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7D4F"/>
                </a:solidFill>
              </a:rPr>
              <a:t>✓ Aliquot status auto-flips to ‘Depleted’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08813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1772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A1A"/>
                </a:solidFill>
              </a:rPr>
              <a:t>Set ConsentForm.expiry_date earlier than date_signed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0" y="46177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7D4F"/>
                </a:solidFill>
              </a:rPr>
              <a:t>✓ chk_consent_dates violation — insert rejected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&amp; Biospecimen Management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60B"/>
                </a:solidFill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860B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6E0E0"/>
                </a:solidFill>
              </a:rPr>
              <a:t>No audit trail of who changed a record and when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6E0E0"/>
                </a:solidFill>
              </a:rPr>
              <a:t>Storage capacity per freezer is not modeled or enforced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6E0E0"/>
                </a:solidFill>
              </a:rPr>
              <a:t>No automated alerting when consent nears expiry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860B"/>
                </a:solidFill>
              </a:rPr>
              <a:t>NEXT STEP — BONUS 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210312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D6E0E0"/>
                </a:solidFill>
              </a:rPr>
              <a:t>A connected front-end (Python/Flask or Node) for live CRUD on samples &amp; requests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D6E0E0"/>
                </a:solidFill>
              </a:rPr>
              <a:t>Search and filter over vw_sample_inventory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D6E0E0"/>
                </a:solidFill>
              </a:rPr>
              <a:t>Form-based consent withdrawal calling sp_record_sample_usage guardrails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Biobank &amp; Biospecimen Management System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B4F5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201168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1201</Words>
  <Application>Microsoft Office PowerPoint</Application>
  <PresentationFormat>Widescreen</PresentationFormat>
  <Paragraphs>201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Consolas</vt:lpstr>
      <vt:lpstr>Georgia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malak ahmed</cp:lastModifiedBy>
  <cp:revision>2</cp:revision>
  <dcterms:created xsi:type="dcterms:W3CDTF">2026-08-14T01:21:09Z</dcterms:created>
  <dcterms:modified xsi:type="dcterms:W3CDTF">2026-08-14T14:09:20Z</dcterms:modified>
</cp:coreProperties>
</file>